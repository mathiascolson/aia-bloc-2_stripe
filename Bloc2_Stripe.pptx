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4" r:id="rId7"/>
    <p:sldId id="265" r:id="rId8"/>
    <p:sldId id="266" r:id="rId9"/>
    <p:sldId id="267" r:id="rId10"/>
    <p:sldId id="262" r:id="rId11"/>
  </p:sldIdLst>
  <p:sldSz cx="9144000" cy="5143500" type="screen16x9"/>
  <p:notesSz cx="6858000" cy="9144000"/>
  <p:embeddedFontLst>
    <p:embeddedFont>
      <p:font typeface="Inter Medium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RpKbBYb5zYLMrPNMhoHya77b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200"/>
    <a:srgbClr val="5433FF"/>
    <a:srgbClr val="4472C4"/>
    <a:srgbClr val="00AF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167" autoAdjust="0"/>
  </p:normalViewPr>
  <p:slideViewPr>
    <p:cSldViewPr snapToGrid="0">
      <p:cViewPr varScale="1">
        <p:scale>
          <a:sx n="127" d="100"/>
          <a:sy n="127" d="100"/>
        </p:scale>
        <p:origin x="12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Cette présentation synthétise une architecture de données inspirée d’un contexte Stripe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L’objectif est de montrer comment organiser des données sensibles, volumineuses et hétérogènes en séparant clairement les usages :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opérations transactionnelles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analyse métier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Événements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Machine Learning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sécurité et gouvernance.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521bfe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06" name="Google Shape;106;g3d6521bfe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Stripe manipule plusieurs types de données (transactionnelles ; analytiques ; évènementielles ; …)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None/>
            </a:pPr>
            <a:r>
              <a:rPr lang="fr-FR" dirty="0"/>
              <a:t>Comme ces données sont sensibles et nombreuses, l’architecture doit répondre à des contraintes transverses : sécurité, conformité, performance, traçabilité et monitoring.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Cette diapositive simplifie volontairement l’architecture pour montrer les responsabilités principales.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Le diagramme détaillé est disponible dans les livrables techniques ainsi que celui du pipeline d’implémentation.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L’idée principale est que les données ne circulent pas librement entre tous les systèmes, elles passent par des composants spécialisés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="1" dirty="0"/>
              <a:t>OLTP garantit les écritures fiables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="1" dirty="0"/>
              <a:t>Kafka</a:t>
            </a:r>
            <a:r>
              <a:rPr lang="fr-FR" dirty="0"/>
              <a:t> transporte les événements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="1" dirty="0"/>
              <a:t>S3</a:t>
            </a:r>
            <a:r>
              <a:rPr lang="fr-FR" dirty="0"/>
              <a:t> pour le stockage brut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="1" dirty="0"/>
              <a:t>Snowflake et dbt</a:t>
            </a:r>
            <a:r>
              <a:rPr lang="fr-FR" dirty="0"/>
              <a:t> pour structurer les données analytiques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MongoDB gère les évènements et les éléments semi-structurés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="1" dirty="0"/>
              <a:t>Airflow</a:t>
            </a:r>
            <a:r>
              <a:rPr lang="fr-FR" dirty="0"/>
              <a:t> pour l’orchestration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b="1" dirty="0"/>
              <a:t>MLflow</a:t>
            </a:r>
            <a:r>
              <a:rPr lang="fr-FR" dirty="0"/>
              <a:t> pour le suivi des modèles.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521bfe9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9" name="Google Shape;129;g3d6521bfe9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b="1" dirty="0"/>
              <a:t>le paiement est l’entité centrale, reliée aux acteurs, aux référentiels et aux opérations associées.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- Au centre, la table « 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payments »</a:t>
            </a:r>
            <a:r>
              <a:rPr lang="fr-FR" dirty="0"/>
              <a:t> structure les opérations.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- Autour, on retrouve les acteurs, les référentiels, les produits et abonnements, puis les tables opérationnelles comme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r>
              <a:rPr lang="fr-FR" dirty="0"/>
              <a:t>,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refunds</a:t>
            </a:r>
            <a:r>
              <a:rPr lang="fr-FR" dirty="0"/>
              <a:t> et </a:t>
            </a:r>
            <a:r>
              <a:rPr lang="fr-F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disputes</a:t>
            </a:r>
            <a:r>
              <a:rPr lang="fr-FR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b="1" dirty="0"/>
              <a:t>L’objectif principal</a:t>
            </a:r>
            <a:r>
              <a:rPr lang="fr-FR" dirty="0"/>
              <a:t> de cette couche est la fiabilité opérationnelle : chaque écriture doit être cohérente, contrôlée par des clés primaires, des clés étrangères et des contraintes d’intégrité.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521bfe9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9" name="Google Shape;129;g3d6521bfe9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Le schéma complet est affiché comme vue d’ensemble, mais la lecture se fait par zones.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Le modèle OLAP reprend les données opérationnelles mais les réorganise pour l’analyse.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Les dimensions décrivent les axes d’analyse (dates, clients, marchands, produits,…)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Les faits portent les mesures transactionnelles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Les marts sont les tables finales utilisées pour les analyses métier.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None/>
            </a:pPr>
            <a:r>
              <a:rPr lang="fr-FR" dirty="0"/>
              <a:t>dbt intervient entre les sources brutes et ces tables pour structurer, tester et historiser les données.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5A5DEB73-E495-2979-A01D-53053CB34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>
            <a:extLst>
              <a:ext uri="{FF2B5EF4-FFF2-40B4-BE49-F238E27FC236}">
                <a16:creationId xmlns:a16="http://schemas.microsoft.com/office/drawing/2014/main" id="{7C210CC1-ED3C-08C7-3FD0-12D8185A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9" name="Google Shape;149;p12:notes">
            <a:extLst>
              <a:ext uri="{FF2B5EF4-FFF2-40B4-BE49-F238E27FC236}">
                <a16:creationId xmlns:a16="http://schemas.microsoft.com/office/drawing/2014/main" id="{9DE40071-5EF3-6E01-54A5-8F8AD5196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MongoDB complète le relationnel sans remplacer l’OLTP.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Son rôle est de stocker des données plus souples : logs applicatifs, clics, feedbacks, etc.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Les documents NoSQL conservent des identifiants de référence vers l’OLTP, ce qui permet de relier les événements aux paiements, clients ou marchands sans reprendre toute la logique transactionnelle.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4111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2509CC61-CB78-3BB8-6DC7-6655D62EA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>
            <a:extLst>
              <a:ext uri="{FF2B5EF4-FFF2-40B4-BE49-F238E27FC236}">
                <a16:creationId xmlns:a16="http://schemas.microsoft.com/office/drawing/2014/main" id="{18726925-416F-2937-D470-E552DF814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9" name="Google Shape;149;p12:notes">
            <a:extLst>
              <a:ext uri="{FF2B5EF4-FFF2-40B4-BE49-F238E27FC236}">
                <a16:creationId xmlns:a16="http://schemas.microsoft.com/office/drawing/2014/main" id="{3F3FD8C3-2BF7-0D8B-921A-7F774DAC9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Machine Learning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Le Machine Learning exploite les événements et les features pour produire un score de risque.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Ce score peut ensuite alimenter une API de scoring, un moteur de décision opérationnelle, etc.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Conformité et Sécurité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Comme l’architecture manipule des données sensibles, il est impératif qu’elle intègre des garde-fous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contrôle des accès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moindre privilège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chiffrement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conformité RGPD et PCI DSS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audit et supervision.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5950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CE0CDD66-4C1A-6182-80F3-8BB9773A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>
            <a:extLst>
              <a:ext uri="{FF2B5EF4-FFF2-40B4-BE49-F238E27FC236}">
                <a16:creationId xmlns:a16="http://schemas.microsoft.com/office/drawing/2014/main" id="{6EFC0AFC-96AB-4BB2-BA7C-EFE7667F91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9" name="Google Shape;149;p12:notes">
            <a:extLst>
              <a:ext uri="{FF2B5EF4-FFF2-40B4-BE49-F238E27FC236}">
                <a16:creationId xmlns:a16="http://schemas.microsoft.com/office/drawing/2014/main" id="{8F73525C-11F9-5DA1-C07A-2F0B2B40E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Cette architecture n’a pas pour objectif de tout centraliser dans un seul système. Elle cherche au contraire à spécialiser les composants pour réduire les risques, améliorer la maintenabilité et rendre les usages métier plus fiables.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L’OLTP garantit les opérations fiables.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L’OLAP permet l’analyse métier.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Le NoSQL absorbe les événements flexibles.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Le ML produit un scoring supervisé et traçable.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La sécurité, la gouvernance et la conformité sont présentes à chaque niveau de l’architecture.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Les évolutions possibles seraient 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d’ajouter un catalogue de données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de monitorer le drift du modèle ML</a:t>
            </a:r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Char char="-"/>
            </a:pPr>
            <a:r>
              <a:rPr lang="fr-FR" dirty="0"/>
              <a:t>de définir des objectifs de service sur la fraîcheur des données, la disponibilité, la latence et la reprise sur incident.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3913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>
            <a:spLocks noGrp="1"/>
          </p:cNvSpPr>
          <p:nvPr>
            <p:ph type="ctrTitle"/>
          </p:nvPr>
        </p:nvSpPr>
        <p:spPr>
          <a:xfrm>
            <a:off x="735474" y="1533146"/>
            <a:ext cx="8285684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de données Stripe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550" y="430537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965931" y="2187552"/>
            <a:ext cx="4334615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 algn="l">
              <a:buSzPct val="231111"/>
            </a:pPr>
            <a:r>
              <a:rPr lang="fr-FR" sz="2800" dirty="0">
                <a:solidFill>
                  <a:schemeClr val="bg1"/>
                </a:solidFill>
              </a:rPr>
              <a:t>Pipeline MLOps automatisé</a:t>
            </a:r>
            <a:endParaRPr sz="2500" dirty="0">
              <a:solidFill>
                <a:schemeClr val="bg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FR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6521bfe93_0_0"/>
          <p:cNvSpPr txBox="1">
            <a:spLocks noGrp="1"/>
          </p:cNvSpPr>
          <p:nvPr>
            <p:ph type="ctrTitle" idx="4294967295"/>
          </p:nvPr>
        </p:nvSpPr>
        <p:spPr>
          <a:xfrm>
            <a:off x="921837" y="129373"/>
            <a:ext cx="79842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dirty="0">
                <a:solidFill>
                  <a:srgbClr val="0E3449"/>
                </a:solidFill>
                <a:latin typeface="Inter SemiBold"/>
                <a:ea typeface="Inter SemiBold"/>
              </a:rPr>
              <a:t>Des données sensibles, volumineuses et hétérogènes</a:t>
            </a:r>
            <a:endParaRPr sz="24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09" name="Google Shape;109;g3d6521bfe93_0_0"/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d6521bfe9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19" y="14008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d6521bfe93_0_0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2</a:t>
            </a:fld>
            <a:endParaRPr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408BE14-0BF5-F534-A36A-2970F747A336}"/>
              </a:ext>
            </a:extLst>
          </p:cNvPr>
          <p:cNvSpPr txBox="1"/>
          <p:nvPr/>
        </p:nvSpPr>
        <p:spPr>
          <a:xfrm>
            <a:off x="9296" y="943876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Stripe manipule plusieurs familles de données :</a:t>
            </a:r>
          </a:p>
          <a:p>
            <a:pPr algn="ctr">
              <a:buNone/>
            </a:pPr>
            <a:endParaRPr lang="fr-FR" dirty="0"/>
          </a:p>
          <a:p>
            <a:pPr algn="ctr">
              <a:buFont typeface="+mj-lt"/>
              <a:buAutoNum type="arabicPeriod"/>
            </a:pPr>
            <a:r>
              <a:rPr lang="fr-FR" b="1" dirty="0"/>
              <a:t>Transactionnelles</a:t>
            </a:r>
            <a:br>
              <a:rPr lang="fr-FR" dirty="0"/>
            </a:br>
            <a:r>
              <a:rPr lang="fr-FR" dirty="0"/>
              <a:t>Paiements, clients, marchands, produits, devises, remboursements, litiges.</a:t>
            </a:r>
          </a:p>
          <a:p>
            <a:pPr algn="ctr">
              <a:buFont typeface="+mj-lt"/>
              <a:buAutoNum type="arabicPeriod"/>
            </a:pPr>
            <a:endParaRPr lang="fr-FR" dirty="0"/>
          </a:p>
          <a:p>
            <a:pPr algn="ctr">
              <a:buFont typeface="+mj-lt"/>
              <a:buAutoNum type="arabicPeriod"/>
            </a:pPr>
            <a:r>
              <a:rPr lang="fr-FR" b="1" dirty="0"/>
              <a:t>Analytiques</a:t>
            </a:r>
            <a:br>
              <a:rPr lang="fr-FR" dirty="0"/>
            </a:br>
            <a:r>
              <a:rPr lang="fr-FR" dirty="0"/>
              <a:t>Revenu, LTV client, segmentation marchands, monitoring risque, abonnements. </a:t>
            </a:r>
          </a:p>
          <a:p>
            <a:pPr algn="ctr">
              <a:buFont typeface="+mj-lt"/>
              <a:buAutoNum type="arabicPeriod"/>
            </a:pPr>
            <a:endParaRPr lang="fr-FR" dirty="0"/>
          </a:p>
          <a:p>
            <a:pPr algn="ctr">
              <a:buFont typeface="+mj-lt"/>
              <a:buAutoNum type="arabicPeriod"/>
            </a:pPr>
            <a:r>
              <a:rPr lang="fr-FR" b="1" dirty="0"/>
              <a:t>Événementielles</a:t>
            </a:r>
            <a:br>
              <a:rPr lang="fr-FR" dirty="0"/>
            </a:br>
            <a:r>
              <a:rPr lang="fr-FR" dirty="0"/>
              <a:t>Logs applicatifs, clics utilisateurs, feedbacks, signaux de fraude, snapshots ML.</a:t>
            </a:r>
          </a:p>
          <a:p>
            <a:pPr algn="ctr"/>
            <a:endParaRPr lang="fr-FR" dirty="0"/>
          </a:p>
          <a:p>
            <a:pPr>
              <a:buNone/>
            </a:pPr>
            <a:r>
              <a:rPr lang="fr-FR" b="1" dirty="0"/>
              <a:t>Contraintes transverses :</a:t>
            </a:r>
            <a:r>
              <a:rPr lang="fr-FR" dirty="0"/>
              <a:t> sécurité, conformité, performance, traçabilité, monitoring.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FC25532-B569-1AF6-AA45-A383C85BBB5E}"/>
              </a:ext>
            </a:extLst>
          </p:cNvPr>
          <p:cNvSpPr txBox="1"/>
          <p:nvPr/>
        </p:nvSpPr>
        <p:spPr>
          <a:xfrm>
            <a:off x="-1" y="3789384"/>
            <a:ext cx="7620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La séparation des usages permet de sécuriser, fiabiliser et industrialiser l’architecture 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A96F0F3-D8B3-F4EE-FCFF-A70D1BC11848}"/>
              </a:ext>
            </a:extLst>
          </p:cNvPr>
          <p:cNvSpPr txBox="1"/>
          <p:nvPr/>
        </p:nvSpPr>
        <p:spPr>
          <a:xfrm>
            <a:off x="3562815" y="4142712"/>
            <a:ext cx="20183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OLTP = opérations ;</a:t>
            </a:r>
          </a:p>
          <a:p>
            <a:r>
              <a:rPr lang="fr-FR" dirty="0"/>
              <a:t>OLAP = analyse ;</a:t>
            </a:r>
          </a:p>
          <a:p>
            <a:r>
              <a:rPr lang="fr-FR" dirty="0"/>
              <a:t>NoSQL = événements.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ctrTitle" idx="4294967295"/>
          </p:nvPr>
        </p:nvSpPr>
        <p:spPr>
          <a:xfrm>
            <a:off x="758661" y="36830"/>
            <a:ext cx="4705815" cy="38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>
                <a:solidFill>
                  <a:srgbClr val="0E3449"/>
                </a:solidFill>
                <a:latin typeface="Inter SemiBold"/>
                <a:ea typeface="Inter SemiBold"/>
              </a:rPr>
              <a:t>Architecture globale des flux</a:t>
            </a:r>
            <a:endParaRPr sz="24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46" y="9639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3</a:t>
            </a:fld>
            <a:endParaRPr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1A329E13-9BC8-9893-7080-12B46BD59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08" y="647655"/>
            <a:ext cx="7953383" cy="42076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521bfe93_0_9"/>
          <p:cNvSpPr txBox="1">
            <a:spLocks noGrp="1"/>
          </p:cNvSpPr>
          <p:nvPr>
            <p:ph type="ctrTitle" idx="4294967295"/>
          </p:nvPr>
        </p:nvSpPr>
        <p:spPr>
          <a:xfrm>
            <a:off x="939311" y="51794"/>
            <a:ext cx="21930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dirty="0">
                <a:solidFill>
                  <a:srgbClr val="0E3449"/>
                </a:solidFill>
                <a:latin typeface="Inter SemiBold"/>
                <a:ea typeface="Inter SemiBold"/>
              </a:rPr>
              <a:t>Modèle OLTP</a:t>
            </a:r>
            <a:endParaRPr sz="24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32" name="Google Shape;132;g3d6521bfe93_0_9"/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d6521bfe93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489" y="12539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d6521bfe93_0_9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4</a:t>
            </a:fld>
            <a:endParaRPr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56691B0-73CC-C87A-FB93-E59BF25F6BF5}"/>
              </a:ext>
            </a:extLst>
          </p:cNvPr>
          <p:cNvSpPr txBox="1"/>
          <p:nvPr/>
        </p:nvSpPr>
        <p:spPr>
          <a:xfrm>
            <a:off x="-42558" y="961058"/>
            <a:ext cx="42444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/>
              <a:t>Modèle OLTP : logique fonctionnelle</a:t>
            </a:r>
            <a:endParaRPr lang="fr-FR" sz="1200" dirty="0"/>
          </a:p>
          <a:p>
            <a:pPr>
              <a:buNone/>
            </a:pPr>
            <a:r>
              <a:rPr lang="fr-FR" sz="1200" dirty="0"/>
              <a:t>Le modèle relationnel est centré sur les paiements.</a:t>
            </a:r>
          </a:p>
          <a:p>
            <a:pPr>
              <a:buNone/>
            </a:pPr>
            <a:endParaRPr lang="fr-FR" sz="1200" dirty="0"/>
          </a:p>
          <a:p>
            <a:pPr>
              <a:buNone/>
            </a:pPr>
            <a:r>
              <a:rPr lang="fr-FR" sz="1200" b="1" dirty="0"/>
              <a:t>Acteurs</a:t>
            </a:r>
            <a:br>
              <a:rPr lang="fr-FR" sz="1200" dirty="0"/>
            </a:br>
            <a:r>
              <a:rPr lang="fr-FR" sz="1200" dirty="0"/>
              <a:t>Clients, marchands, utilisateurs, adresses.</a:t>
            </a:r>
          </a:p>
          <a:p>
            <a:pPr>
              <a:buNone/>
            </a:pPr>
            <a:endParaRPr lang="fr-FR" sz="1200" dirty="0"/>
          </a:p>
          <a:p>
            <a:pPr>
              <a:buNone/>
            </a:pPr>
            <a:r>
              <a:rPr lang="fr-FR" sz="1200" b="1" dirty="0"/>
              <a:t>Référentiels</a:t>
            </a:r>
            <a:br>
              <a:rPr lang="fr-FR" sz="1200" dirty="0"/>
            </a:br>
            <a:r>
              <a:rPr lang="fr-FR" sz="1200" dirty="0"/>
              <a:t>Pays, devises, taux de change, moyens de paiement.</a:t>
            </a:r>
          </a:p>
          <a:p>
            <a:pPr>
              <a:buNone/>
            </a:pPr>
            <a:endParaRPr lang="fr-FR" sz="1200" dirty="0"/>
          </a:p>
          <a:p>
            <a:pPr>
              <a:buNone/>
            </a:pPr>
            <a:r>
              <a:rPr lang="fr-FR" sz="1200" b="1" dirty="0"/>
              <a:t>Offre</a:t>
            </a:r>
            <a:br>
              <a:rPr lang="fr-FR" sz="1200" dirty="0"/>
            </a:br>
            <a:r>
              <a:rPr lang="fr-FR" sz="1200" dirty="0"/>
              <a:t>Produits et abonnements.</a:t>
            </a:r>
          </a:p>
          <a:p>
            <a:pPr>
              <a:buNone/>
            </a:pPr>
            <a:endParaRPr lang="fr-FR" sz="1200" dirty="0"/>
          </a:p>
          <a:p>
            <a:pPr>
              <a:buNone/>
            </a:pPr>
            <a:r>
              <a:rPr lang="fr-FR" sz="1200" b="1" dirty="0"/>
              <a:t>Opérations</a:t>
            </a:r>
            <a:br>
              <a:rPr lang="fr-FR" sz="1200" dirty="0"/>
            </a:br>
            <a:r>
              <a:rPr lang="fr-FR" sz="1200" dirty="0"/>
              <a:t>Paiements, transactions, remboursements, litiges.</a:t>
            </a:r>
          </a:p>
          <a:p>
            <a:pPr>
              <a:buNone/>
            </a:pPr>
            <a:endParaRPr lang="fr-FR" sz="1200" dirty="0"/>
          </a:p>
          <a:p>
            <a:pPr>
              <a:buNone/>
            </a:pPr>
            <a:r>
              <a:rPr lang="fr-FR" sz="1200" b="1" dirty="0"/>
              <a:t>Principe</a:t>
            </a:r>
            <a:br>
              <a:rPr lang="fr-FR" sz="1200" dirty="0"/>
            </a:br>
            <a:r>
              <a:rPr lang="fr-FR" sz="1200" dirty="0"/>
              <a:t>Chaque paiement est relié à des entités contrôlées par clés primaires, clés étrangères et contraintes d’intégrité.</a:t>
            </a:r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7311FDE5-8284-FACA-F3DF-5C98F2BAFF89}"/>
              </a:ext>
            </a:extLst>
          </p:cNvPr>
          <p:cNvGrpSpPr/>
          <p:nvPr/>
        </p:nvGrpSpPr>
        <p:grpSpPr>
          <a:xfrm>
            <a:off x="3181816" y="51794"/>
            <a:ext cx="5895277" cy="4863909"/>
            <a:chOff x="3248722" y="0"/>
            <a:chExt cx="5895277" cy="4863909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6DF5F981-28FB-DF5F-1267-589D5E5A7829}"/>
                </a:ext>
              </a:extLst>
            </p:cNvPr>
            <p:cNvGrpSpPr/>
            <p:nvPr/>
          </p:nvGrpSpPr>
          <p:grpSpPr>
            <a:xfrm>
              <a:off x="4338290" y="0"/>
              <a:ext cx="4805709" cy="4863909"/>
              <a:chOff x="4338290" y="0"/>
              <a:chExt cx="4805709" cy="4863909"/>
            </a:xfrm>
          </p:grpSpPr>
          <p:pic>
            <p:nvPicPr>
              <p:cNvPr id="4" name="Image 3">
                <a:extLst>
                  <a:ext uri="{FF2B5EF4-FFF2-40B4-BE49-F238E27FC236}">
                    <a16:creationId xmlns:a16="http://schemas.microsoft.com/office/drawing/2014/main" id="{2082DC78-B52C-E9CF-9838-9411A74B0B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5477" y="0"/>
                <a:ext cx="4788522" cy="4863909"/>
              </a:xfrm>
              <a:prstGeom prst="rect">
                <a:avLst/>
              </a:prstGeom>
            </p:spPr>
          </p:pic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A5EF255D-EA65-39AE-7D83-99E933576E50}"/>
                  </a:ext>
                </a:extLst>
              </p:cNvPr>
              <p:cNvSpPr/>
              <p:nvPr/>
            </p:nvSpPr>
            <p:spPr>
              <a:xfrm>
                <a:off x="4338290" y="579470"/>
                <a:ext cx="1769326" cy="1398013"/>
              </a:xfrm>
              <a:prstGeom prst="roundRect">
                <a:avLst/>
              </a:prstGeom>
              <a:noFill/>
              <a:ln w="12700">
                <a:solidFill>
                  <a:srgbClr val="5433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ADB6DCF2-FA0C-E73B-D353-8DF5ACE715C7}"/>
                  </a:ext>
                </a:extLst>
              </p:cNvPr>
              <p:cNvSpPr/>
              <p:nvPr/>
            </p:nvSpPr>
            <p:spPr>
              <a:xfrm>
                <a:off x="4572000" y="2333451"/>
                <a:ext cx="2066692" cy="2423531"/>
              </a:xfrm>
              <a:prstGeom prst="roundRect">
                <a:avLst/>
              </a:prstGeom>
              <a:noFill/>
              <a:ln w="12700">
                <a:solidFill>
                  <a:srgbClr val="5433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B6064405-0F11-B1AA-AEDC-C5C24B9AF0E4}"/>
                  </a:ext>
                </a:extLst>
              </p:cNvPr>
              <p:cNvSpPr/>
              <p:nvPr/>
            </p:nvSpPr>
            <p:spPr>
              <a:xfrm>
                <a:off x="6422170" y="97941"/>
                <a:ext cx="2275781" cy="876208"/>
              </a:xfrm>
              <a:prstGeom prst="roundRect">
                <a:avLst/>
              </a:prstGeom>
              <a:noFill/>
              <a:ln w="12700">
                <a:solidFill>
                  <a:srgbClr val="5433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5" name="Rectangle : coins arrondis 24">
                <a:extLst>
                  <a:ext uri="{FF2B5EF4-FFF2-40B4-BE49-F238E27FC236}">
                    <a16:creationId xmlns:a16="http://schemas.microsoft.com/office/drawing/2014/main" id="{763C03C9-8309-FAEB-0B8A-B52BE037782E}"/>
                  </a:ext>
                </a:extLst>
              </p:cNvPr>
              <p:cNvSpPr/>
              <p:nvPr/>
            </p:nvSpPr>
            <p:spPr>
              <a:xfrm>
                <a:off x="6749738" y="1024293"/>
                <a:ext cx="2275780" cy="2423531"/>
              </a:xfrm>
              <a:prstGeom prst="roundRect">
                <a:avLst/>
              </a:prstGeom>
              <a:noFill/>
              <a:ln w="12700">
                <a:solidFill>
                  <a:srgbClr val="5433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29" name="Connecteur droit avec flèche 28">
                <a:extLst>
                  <a:ext uri="{FF2B5EF4-FFF2-40B4-BE49-F238E27FC236}">
                    <a16:creationId xmlns:a16="http://schemas.microsoft.com/office/drawing/2014/main" id="{93743226-C57D-8833-21CA-B6F3329293A6}"/>
                  </a:ext>
                </a:extLst>
              </p:cNvPr>
              <p:cNvCxnSpPr>
                <a:cxnSpLocks/>
                <a:stCxn id="10" idx="0"/>
              </p:cNvCxnSpPr>
              <p:nvPr/>
            </p:nvCxnSpPr>
            <p:spPr>
              <a:xfrm flipH="1" flipV="1">
                <a:off x="4720683" y="386518"/>
                <a:ext cx="502270" cy="192952"/>
              </a:xfrm>
              <a:prstGeom prst="straightConnector1">
                <a:avLst/>
              </a:prstGeom>
              <a:ln>
                <a:solidFill>
                  <a:srgbClr val="FF72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B9D5C2DC-EB2F-BB59-F4BF-E8961DF8A974}"/>
                </a:ext>
              </a:extLst>
            </p:cNvPr>
            <p:cNvCxnSpPr/>
            <p:nvPr/>
          </p:nvCxnSpPr>
          <p:spPr>
            <a:xfrm flipH="1">
              <a:off x="3977268" y="4334107"/>
              <a:ext cx="594732" cy="200722"/>
            </a:xfrm>
            <a:prstGeom prst="straightConnector1">
              <a:avLst/>
            </a:prstGeom>
            <a:ln>
              <a:solidFill>
                <a:srgbClr val="FF72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ACE41E88-2EE8-B3E5-5002-A79F8241769B}"/>
                </a:ext>
              </a:extLst>
            </p:cNvPr>
            <p:cNvCxnSpPr/>
            <p:nvPr/>
          </p:nvCxnSpPr>
          <p:spPr>
            <a:xfrm>
              <a:off x="8028878" y="3447824"/>
              <a:ext cx="0" cy="373327"/>
            </a:xfrm>
            <a:prstGeom prst="straightConnector1">
              <a:avLst/>
            </a:prstGeom>
            <a:ln>
              <a:solidFill>
                <a:srgbClr val="FF72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57C88E3C-9ECA-E9BD-592A-FB7BDE9CD96F}"/>
                </a:ext>
              </a:extLst>
            </p:cNvPr>
            <p:cNvCxnSpPr/>
            <p:nvPr/>
          </p:nvCxnSpPr>
          <p:spPr>
            <a:xfrm flipH="1" flipV="1">
              <a:off x="6107616" y="193566"/>
              <a:ext cx="314554" cy="118668"/>
            </a:xfrm>
            <a:prstGeom prst="straightConnector1">
              <a:avLst/>
            </a:prstGeom>
            <a:ln>
              <a:solidFill>
                <a:srgbClr val="FF72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2A85F555-0245-1257-079D-56450173ACF4}"/>
                </a:ext>
              </a:extLst>
            </p:cNvPr>
            <p:cNvSpPr txBox="1"/>
            <p:nvPr/>
          </p:nvSpPr>
          <p:spPr>
            <a:xfrm>
              <a:off x="3777846" y="193566"/>
              <a:ext cx="942837" cy="246221"/>
            </a:xfrm>
            <a:prstGeom prst="rect">
              <a:avLst/>
            </a:prstGeom>
            <a:noFill/>
            <a:ln>
              <a:solidFill>
                <a:srgbClr val="FF72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dirty="0"/>
                <a:t>Référentiels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18510E53-33AC-8774-5314-7A507F2B7597}"/>
                </a:ext>
              </a:extLst>
            </p:cNvPr>
            <p:cNvSpPr txBox="1"/>
            <p:nvPr/>
          </p:nvSpPr>
          <p:spPr>
            <a:xfrm>
              <a:off x="5605345" y="94502"/>
              <a:ext cx="493677" cy="246221"/>
            </a:xfrm>
            <a:prstGeom prst="rect">
              <a:avLst/>
            </a:prstGeom>
            <a:noFill/>
            <a:ln>
              <a:solidFill>
                <a:srgbClr val="FF72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dirty="0"/>
                <a:t>Offre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656B220F-3EA4-EDD3-11AA-21537AA59CE0}"/>
                </a:ext>
              </a:extLst>
            </p:cNvPr>
            <p:cNvSpPr txBox="1"/>
            <p:nvPr/>
          </p:nvSpPr>
          <p:spPr>
            <a:xfrm>
              <a:off x="3248722" y="4441287"/>
              <a:ext cx="728545" cy="246221"/>
            </a:xfrm>
            <a:prstGeom prst="rect">
              <a:avLst/>
            </a:prstGeom>
            <a:noFill/>
            <a:ln>
              <a:solidFill>
                <a:srgbClr val="FF72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dirty="0"/>
                <a:t>Acteurs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6DE21523-4EE6-7A74-AD09-87720A7DB3E1}"/>
                </a:ext>
              </a:extLst>
            </p:cNvPr>
            <p:cNvSpPr txBox="1"/>
            <p:nvPr/>
          </p:nvSpPr>
          <p:spPr>
            <a:xfrm>
              <a:off x="7616282" y="3845699"/>
              <a:ext cx="910679" cy="553998"/>
            </a:xfrm>
            <a:prstGeom prst="rect">
              <a:avLst/>
            </a:prstGeom>
            <a:noFill/>
            <a:ln>
              <a:solidFill>
                <a:srgbClr val="FF72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dirty="0"/>
                <a:t>Opérations de paiement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521bfe93_0_9"/>
          <p:cNvSpPr txBox="1">
            <a:spLocks noGrp="1"/>
          </p:cNvSpPr>
          <p:nvPr>
            <p:ph type="ctrTitle" idx="4294967295"/>
          </p:nvPr>
        </p:nvSpPr>
        <p:spPr>
          <a:xfrm>
            <a:off x="850652" y="58523"/>
            <a:ext cx="1915795" cy="38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000" dirty="0">
                <a:solidFill>
                  <a:srgbClr val="0E3449"/>
                </a:solidFill>
                <a:latin typeface="Inter SemiBold"/>
                <a:ea typeface="Inter SemiBold"/>
              </a:rPr>
              <a:t>Modèle OLAP</a:t>
            </a:r>
            <a:endParaRPr sz="20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32" name="Google Shape;132;g3d6521bfe93_0_9"/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d6521bfe93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961" y="62698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d6521bfe93_0_9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5</a:t>
            </a:fld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EB1A668-D6F0-20A9-11F6-23F1A3A8E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807" y="173983"/>
            <a:ext cx="3705450" cy="446896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0304729-EDAB-1883-9016-2044A787FA59}"/>
              </a:ext>
            </a:extLst>
          </p:cNvPr>
          <p:cNvSpPr txBox="1"/>
          <p:nvPr/>
        </p:nvSpPr>
        <p:spPr>
          <a:xfrm>
            <a:off x="0" y="854192"/>
            <a:ext cx="370545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Logique analytique</a:t>
            </a:r>
          </a:p>
          <a:p>
            <a:endParaRPr lang="fr-FR" dirty="0"/>
          </a:p>
          <a:p>
            <a:r>
              <a:rPr lang="fr-FR" sz="1200" dirty="0"/>
              <a:t>Le modèle OLAP réorganise les données opérationnelles en tables optimisées pour l’analyse.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Dimensions :</a:t>
            </a:r>
            <a:br>
              <a:rPr lang="fr-FR" sz="1200" dirty="0"/>
            </a:br>
            <a:r>
              <a:rPr lang="fr-FR" sz="1200" dirty="0"/>
              <a:t>dates, clients, marchands, produits, devises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Faits :</a:t>
            </a:r>
            <a:br>
              <a:rPr lang="fr-FR" sz="1200" dirty="0"/>
            </a:br>
            <a:r>
              <a:rPr lang="fr-FR" sz="1200" dirty="0"/>
              <a:t>paiements, transactions, remboursements, litiges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Marts :</a:t>
            </a:r>
            <a:br>
              <a:rPr lang="fr-FR" sz="1200" dirty="0"/>
            </a:br>
            <a:r>
              <a:rPr lang="fr-FR" sz="1200" dirty="0"/>
              <a:t>revenu quotidien, LTV client, risque, abonnements</a:t>
            </a:r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43F406B-39F0-4316-CF59-5F58607F6D37}"/>
              </a:ext>
            </a:extLst>
          </p:cNvPr>
          <p:cNvSpPr/>
          <p:nvPr/>
        </p:nvSpPr>
        <p:spPr>
          <a:xfrm>
            <a:off x="4138046" y="173983"/>
            <a:ext cx="869261" cy="4468961"/>
          </a:xfrm>
          <a:prstGeom prst="roundRect">
            <a:avLst/>
          </a:prstGeom>
          <a:noFill/>
          <a:ln w="12700">
            <a:solidFill>
              <a:srgbClr val="54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F7D1A7E-6E52-490C-C6CB-6D40363D8EAC}"/>
              </a:ext>
            </a:extLst>
          </p:cNvPr>
          <p:cNvSpPr/>
          <p:nvPr/>
        </p:nvSpPr>
        <p:spPr>
          <a:xfrm>
            <a:off x="5184184" y="650929"/>
            <a:ext cx="1480088" cy="2929179"/>
          </a:xfrm>
          <a:prstGeom prst="roundRect">
            <a:avLst/>
          </a:prstGeom>
          <a:noFill/>
          <a:ln w="12700">
            <a:solidFill>
              <a:srgbClr val="54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5B59D9D-C9CA-B1C5-F68C-3001A72ECE48}"/>
              </a:ext>
            </a:extLst>
          </p:cNvPr>
          <p:cNvSpPr/>
          <p:nvPr/>
        </p:nvSpPr>
        <p:spPr>
          <a:xfrm>
            <a:off x="6888996" y="854192"/>
            <a:ext cx="869261" cy="2795659"/>
          </a:xfrm>
          <a:prstGeom prst="roundRect">
            <a:avLst/>
          </a:prstGeom>
          <a:noFill/>
          <a:ln w="12700">
            <a:solidFill>
              <a:srgbClr val="54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AA116FC6-4075-9E6B-B603-88603DABA282}"/>
              </a:ext>
            </a:extLst>
          </p:cNvPr>
          <p:cNvCxnSpPr/>
          <p:nvPr/>
        </p:nvCxnSpPr>
        <p:spPr>
          <a:xfrm flipH="1">
            <a:off x="3820332" y="650929"/>
            <a:ext cx="317714" cy="0"/>
          </a:xfrm>
          <a:prstGeom prst="straightConnector1">
            <a:avLst/>
          </a:prstGeom>
          <a:ln>
            <a:solidFill>
              <a:srgbClr val="FF72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EE67C3D-C870-B950-0B86-6FEEC5AA2CC2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924228" y="364210"/>
            <a:ext cx="0" cy="286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63FF701B-D748-B73F-564B-41085AF228D1}"/>
              </a:ext>
            </a:extLst>
          </p:cNvPr>
          <p:cNvCxnSpPr>
            <a:cxnSpLocks/>
          </p:cNvCxnSpPr>
          <p:nvPr/>
        </p:nvCxnSpPr>
        <p:spPr>
          <a:xfrm>
            <a:off x="7758257" y="1446509"/>
            <a:ext cx="2198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D4B38896-6B68-4048-72D5-C8DEABFFCD58}"/>
              </a:ext>
            </a:extLst>
          </p:cNvPr>
          <p:cNvSpPr txBox="1"/>
          <p:nvPr/>
        </p:nvSpPr>
        <p:spPr>
          <a:xfrm>
            <a:off x="2766447" y="526942"/>
            <a:ext cx="1008746" cy="276999"/>
          </a:xfrm>
          <a:prstGeom prst="rect">
            <a:avLst/>
          </a:prstGeom>
          <a:noFill/>
          <a:ln>
            <a:solidFill>
              <a:srgbClr val="FF72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Dimensions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05AFF9A-676A-2A27-8710-273408E58762}"/>
              </a:ext>
            </a:extLst>
          </p:cNvPr>
          <p:cNvSpPr txBox="1"/>
          <p:nvPr/>
        </p:nvSpPr>
        <p:spPr>
          <a:xfrm>
            <a:off x="5655268" y="72294"/>
            <a:ext cx="537919" cy="276999"/>
          </a:xfrm>
          <a:prstGeom prst="rect">
            <a:avLst/>
          </a:prstGeom>
          <a:noFill/>
          <a:ln>
            <a:solidFill>
              <a:srgbClr val="FF72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Faits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C4490DC-B770-621A-7EFD-50FD1361BB5E}"/>
              </a:ext>
            </a:extLst>
          </p:cNvPr>
          <p:cNvSpPr txBox="1"/>
          <p:nvPr/>
        </p:nvSpPr>
        <p:spPr>
          <a:xfrm>
            <a:off x="7978140" y="1308009"/>
            <a:ext cx="1043018" cy="276999"/>
          </a:xfrm>
          <a:prstGeom prst="rect">
            <a:avLst/>
          </a:prstGeom>
          <a:noFill/>
          <a:ln>
            <a:solidFill>
              <a:srgbClr val="FF72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Marts métier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169E678-E200-B252-EF70-FFBB783CBF06}"/>
              </a:ext>
            </a:extLst>
          </p:cNvPr>
          <p:cNvSpPr txBox="1"/>
          <p:nvPr/>
        </p:nvSpPr>
        <p:spPr>
          <a:xfrm>
            <a:off x="5482854" y="3718608"/>
            <a:ext cx="35128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Les marts fournissent des tables prêtes à l’analyse, sans requêter directement les sources brutes.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7E764C1B-D241-90DB-7BF6-80D847F1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>
            <a:extLst>
              <a:ext uri="{FF2B5EF4-FFF2-40B4-BE49-F238E27FC236}">
                <a16:creationId xmlns:a16="http://schemas.microsoft.com/office/drawing/2014/main" id="{9E588378-0F16-19F0-931C-A886587FF32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3568" y="53365"/>
            <a:ext cx="2568312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Modèle NoSQL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52" name="Google Shape;152;p12">
            <a:extLst>
              <a:ext uri="{FF2B5EF4-FFF2-40B4-BE49-F238E27FC236}">
                <a16:creationId xmlns:a16="http://schemas.microsoft.com/office/drawing/2014/main" id="{E6948072-E658-EB77-1A96-79C289B0EDD8}"/>
              </a:ext>
            </a:extLst>
          </p:cNvPr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2">
            <a:extLst>
              <a:ext uri="{FF2B5EF4-FFF2-40B4-BE49-F238E27FC236}">
                <a16:creationId xmlns:a16="http://schemas.microsoft.com/office/drawing/2014/main" id="{1C185566-518C-E642-1691-219E66080B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273" y="53365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>
            <a:extLst>
              <a:ext uri="{FF2B5EF4-FFF2-40B4-BE49-F238E27FC236}">
                <a16:creationId xmlns:a16="http://schemas.microsoft.com/office/drawing/2014/main" id="{F5AA90CB-0FDF-1BA2-7379-E68B60439C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6</a:t>
            </a:fld>
            <a:endParaRPr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01BDB54-4B73-6E60-00AB-790F246D1997}"/>
              </a:ext>
            </a:extLst>
          </p:cNvPr>
          <p:cNvSpPr txBox="1"/>
          <p:nvPr/>
        </p:nvSpPr>
        <p:spPr>
          <a:xfrm>
            <a:off x="0" y="586465"/>
            <a:ext cx="5974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MongoDB complète le relationnel pour les données souples, évolutives et événementielles sans remplacer l’OLTP.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C1EAD669-EBF2-5E81-8E2E-9E385717C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" y="848075"/>
            <a:ext cx="8938260" cy="390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08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44C66156-75E6-8513-B328-32144124E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>
            <a:extLst>
              <a:ext uri="{FF2B5EF4-FFF2-40B4-BE49-F238E27FC236}">
                <a16:creationId xmlns:a16="http://schemas.microsoft.com/office/drawing/2014/main" id="{E9A45661-6C57-9519-0E88-8D9DDD522B2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3568" y="53365"/>
            <a:ext cx="6766932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Machine Learning, sécurité et conformité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52" name="Google Shape;152;p12">
            <a:extLst>
              <a:ext uri="{FF2B5EF4-FFF2-40B4-BE49-F238E27FC236}">
                <a16:creationId xmlns:a16="http://schemas.microsoft.com/office/drawing/2014/main" id="{A35A8221-2374-BBC2-DFE1-5F1AEE859547}"/>
              </a:ext>
            </a:extLst>
          </p:cNvPr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2">
            <a:extLst>
              <a:ext uri="{FF2B5EF4-FFF2-40B4-BE49-F238E27FC236}">
                <a16:creationId xmlns:a16="http://schemas.microsoft.com/office/drawing/2014/main" id="{1734FD30-045C-C30A-0B22-DDFDDADB59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273" y="53365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>
            <a:extLst>
              <a:ext uri="{FF2B5EF4-FFF2-40B4-BE49-F238E27FC236}">
                <a16:creationId xmlns:a16="http://schemas.microsoft.com/office/drawing/2014/main" id="{7DCCA516-A1E7-D9C2-6069-391E49FE04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7</a:t>
            </a:fld>
            <a:endParaRPr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A8CF6C-0C8E-FC8F-2AEE-00C6884D467F}"/>
              </a:ext>
            </a:extLst>
          </p:cNvPr>
          <p:cNvSpPr txBox="1"/>
          <p:nvPr/>
        </p:nvSpPr>
        <p:spPr>
          <a:xfrm>
            <a:off x="6499138" y="717714"/>
            <a:ext cx="262272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Garde-fous de sécurité :</a:t>
            </a:r>
            <a:br>
              <a:rPr lang="fr-FR" b="1" dirty="0"/>
            </a:br>
            <a:endParaRPr lang="fr-F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RBAC et moindre privilège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Chiffrement au repos et en transit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Gouvernance des accès et des données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Conformité RGPD / PCI-DSS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Audit, logs et supervision.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0780005-F8D0-E2D7-B8D8-019272238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5" y="586465"/>
            <a:ext cx="6442745" cy="421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4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785D2A05-DEC4-EFA7-FD01-A1063BEA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>
            <a:extLst>
              <a:ext uri="{FF2B5EF4-FFF2-40B4-BE49-F238E27FC236}">
                <a16:creationId xmlns:a16="http://schemas.microsoft.com/office/drawing/2014/main" id="{31061F03-0670-06DF-3858-90A982D8579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3568" y="53365"/>
            <a:ext cx="6292005" cy="46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Conclusion : une architecture par usage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52" name="Google Shape;152;p12">
            <a:extLst>
              <a:ext uri="{FF2B5EF4-FFF2-40B4-BE49-F238E27FC236}">
                <a16:creationId xmlns:a16="http://schemas.microsoft.com/office/drawing/2014/main" id="{47DFFC23-4235-024B-DB78-C90832804617}"/>
              </a:ext>
            </a:extLst>
          </p:cNvPr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2">
            <a:extLst>
              <a:ext uri="{FF2B5EF4-FFF2-40B4-BE49-F238E27FC236}">
                <a16:creationId xmlns:a16="http://schemas.microsoft.com/office/drawing/2014/main" id="{F1FA2F3E-93D0-B7F0-451C-A97E6B0E0E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273" y="53365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>
            <a:extLst>
              <a:ext uri="{FF2B5EF4-FFF2-40B4-BE49-F238E27FC236}">
                <a16:creationId xmlns:a16="http://schemas.microsoft.com/office/drawing/2014/main" id="{0B507436-ECDA-51E9-FBF4-6FB2596CE8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8</a:t>
            </a:fld>
            <a:endParaRPr dirty="0"/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040EF112-EF47-6F17-3956-1F3477C84BB7}"/>
              </a:ext>
            </a:extLst>
          </p:cNvPr>
          <p:cNvGrpSpPr/>
          <p:nvPr/>
        </p:nvGrpSpPr>
        <p:grpSpPr>
          <a:xfrm>
            <a:off x="1125273" y="640260"/>
            <a:ext cx="6893454" cy="1211800"/>
            <a:chOff x="1374246" y="1090092"/>
            <a:chExt cx="6893454" cy="1211800"/>
          </a:xfrm>
        </p:grpSpPr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6C093D22-984D-F4BB-80EC-AAEF3751AD06}"/>
                </a:ext>
              </a:extLst>
            </p:cNvPr>
            <p:cNvGrpSpPr/>
            <p:nvPr/>
          </p:nvGrpSpPr>
          <p:grpSpPr>
            <a:xfrm>
              <a:off x="1652470" y="1143000"/>
              <a:ext cx="6252117" cy="963986"/>
              <a:chOff x="468723" y="1104900"/>
              <a:chExt cx="6252117" cy="963986"/>
            </a:xfrm>
          </p:grpSpPr>
          <p:grpSp>
            <p:nvGrpSpPr>
              <p:cNvPr id="21" name="Groupe 20">
                <a:extLst>
                  <a:ext uri="{FF2B5EF4-FFF2-40B4-BE49-F238E27FC236}">
                    <a16:creationId xmlns:a16="http://schemas.microsoft.com/office/drawing/2014/main" id="{00187AD5-2606-1CBD-8ABB-E42B299F6860}"/>
                  </a:ext>
                </a:extLst>
              </p:cNvPr>
              <p:cNvGrpSpPr/>
              <p:nvPr/>
            </p:nvGrpSpPr>
            <p:grpSpPr>
              <a:xfrm>
                <a:off x="510540" y="1104900"/>
                <a:ext cx="1158240" cy="533100"/>
                <a:chOff x="510540" y="1104900"/>
                <a:chExt cx="1158240" cy="533100"/>
              </a:xfrm>
            </p:grpSpPr>
            <p:sp>
              <p:nvSpPr>
                <p:cNvPr id="2" name="Rectangle : coins arrondis 1">
                  <a:extLst>
                    <a:ext uri="{FF2B5EF4-FFF2-40B4-BE49-F238E27FC236}">
                      <a16:creationId xmlns:a16="http://schemas.microsoft.com/office/drawing/2014/main" id="{156AE6B3-CFFE-DB83-2519-8E0938E7F697}"/>
                    </a:ext>
                  </a:extLst>
                </p:cNvPr>
                <p:cNvSpPr/>
                <p:nvPr/>
              </p:nvSpPr>
              <p:spPr>
                <a:xfrm>
                  <a:off x="510540" y="1104900"/>
                  <a:ext cx="1158240" cy="533100"/>
                </a:xfrm>
                <a:prstGeom prst="roundRect">
                  <a:avLst/>
                </a:prstGeom>
                <a:noFill/>
                <a:ln w="12700">
                  <a:solidFill>
                    <a:srgbClr val="5433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2" name="ZoneTexte 11">
                  <a:extLst>
                    <a:ext uri="{FF2B5EF4-FFF2-40B4-BE49-F238E27FC236}">
                      <a16:creationId xmlns:a16="http://schemas.microsoft.com/office/drawing/2014/main" id="{F7086215-3131-6657-8A28-8A01E4059CC0}"/>
                    </a:ext>
                  </a:extLst>
                </p:cNvPr>
                <p:cNvSpPr txBox="1"/>
                <p:nvPr/>
              </p:nvSpPr>
              <p:spPr>
                <a:xfrm>
                  <a:off x="739139" y="1217561"/>
                  <a:ext cx="72580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b="1" dirty="0"/>
                    <a:t>OLTP</a:t>
                  </a:r>
                </a:p>
              </p:txBody>
            </p:sp>
          </p:grpSp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B9D53E3F-BA53-9C21-8E27-3557011F687D}"/>
                  </a:ext>
                </a:extLst>
              </p:cNvPr>
              <p:cNvGrpSpPr/>
              <p:nvPr/>
            </p:nvGrpSpPr>
            <p:grpSpPr>
              <a:xfrm>
                <a:off x="2194560" y="1104900"/>
                <a:ext cx="1158240" cy="533100"/>
                <a:chOff x="2194560" y="1104900"/>
                <a:chExt cx="1158240" cy="533100"/>
              </a:xfrm>
            </p:grpSpPr>
            <p:sp>
              <p:nvSpPr>
                <p:cNvPr id="4" name="Rectangle : coins arrondis 3">
                  <a:extLst>
                    <a:ext uri="{FF2B5EF4-FFF2-40B4-BE49-F238E27FC236}">
                      <a16:creationId xmlns:a16="http://schemas.microsoft.com/office/drawing/2014/main" id="{A6CDE38E-835F-CF90-876D-C83797C4A82B}"/>
                    </a:ext>
                  </a:extLst>
                </p:cNvPr>
                <p:cNvSpPr/>
                <p:nvPr/>
              </p:nvSpPr>
              <p:spPr>
                <a:xfrm>
                  <a:off x="2194560" y="1104900"/>
                  <a:ext cx="1158240" cy="533100"/>
                </a:xfrm>
                <a:prstGeom prst="roundRect">
                  <a:avLst/>
                </a:prstGeom>
                <a:noFill/>
                <a:ln w="12700">
                  <a:solidFill>
                    <a:srgbClr val="5433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35098827-95CB-7808-603F-50A13975EA67}"/>
                    </a:ext>
                  </a:extLst>
                </p:cNvPr>
                <p:cNvSpPr txBox="1"/>
                <p:nvPr/>
              </p:nvSpPr>
              <p:spPr>
                <a:xfrm>
                  <a:off x="2423160" y="1217561"/>
                  <a:ext cx="7048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b="1" dirty="0"/>
                    <a:t>OLAP</a:t>
                  </a:r>
                </a:p>
              </p:txBody>
            </p:sp>
          </p:grpSp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299020BA-247A-20F3-2FFD-07A47D5F1CA6}"/>
                  </a:ext>
                </a:extLst>
              </p:cNvPr>
              <p:cNvGrpSpPr/>
              <p:nvPr/>
            </p:nvGrpSpPr>
            <p:grpSpPr>
              <a:xfrm>
                <a:off x="3878580" y="1104900"/>
                <a:ext cx="1158240" cy="533100"/>
                <a:chOff x="3878580" y="1104900"/>
                <a:chExt cx="1158240" cy="533100"/>
              </a:xfrm>
            </p:grpSpPr>
            <p:sp>
              <p:nvSpPr>
                <p:cNvPr id="6" name="Rectangle : coins arrondis 5">
                  <a:extLst>
                    <a:ext uri="{FF2B5EF4-FFF2-40B4-BE49-F238E27FC236}">
                      <a16:creationId xmlns:a16="http://schemas.microsoft.com/office/drawing/2014/main" id="{74027F79-DFEB-3CD0-6B52-FE4459AB5C71}"/>
                    </a:ext>
                  </a:extLst>
                </p:cNvPr>
                <p:cNvSpPr/>
                <p:nvPr/>
              </p:nvSpPr>
              <p:spPr>
                <a:xfrm>
                  <a:off x="3878580" y="1104900"/>
                  <a:ext cx="1158240" cy="533100"/>
                </a:xfrm>
                <a:prstGeom prst="roundRect">
                  <a:avLst/>
                </a:prstGeom>
                <a:noFill/>
                <a:ln w="12700">
                  <a:solidFill>
                    <a:srgbClr val="5433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41D2A1D2-3CB7-F112-DEF6-2BFF4BC663DF}"/>
                    </a:ext>
                  </a:extLst>
                </p:cNvPr>
                <p:cNvSpPr txBox="1"/>
                <p:nvPr/>
              </p:nvSpPr>
              <p:spPr>
                <a:xfrm>
                  <a:off x="4053933" y="1217561"/>
                  <a:ext cx="8075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b="1" dirty="0"/>
                    <a:t>NoSQL</a:t>
                  </a:r>
                </a:p>
              </p:txBody>
            </p:sp>
          </p:grpSp>
          <p:grpSp>
            <p:nvGrpSpPr>
              <p:cNvPr id="24" name="Groupe 23">
                <a:extLst>
                  <a:ext uri="{FF2B5EF4-FFF2-40B4-BE49-F238E27FC236}">
                    <a16:creationId xmlns:a16="http://schemas.microsoft.com/office/drawing/2014/main" id="{D141B5D8-CA8B-DF16-7A78-2273EFF1584E}"/>
                  </a:ext>
                </a:extLst>
              </p:cNvPr>
              <p:cNvGrpSpPr/>
              <p:nvPr/>
            </p:nvGrpSpPr>
            <p:grpSpPr>
              <a:xfrm>
                <a:off x="5562600" y="1104900"/>
                <a:ext cx="1158240" cy="533100"/>
                <a:chOff x="5562600" y="1104900"/>
                <a:chExt cx="1158240" cy="533100"/>
              </a:xfrm>
            </p:grpSpPr>
            <p:sp>
              <p:nvSpPr>
                <p:cNvPr id="8" name="Rectangle : coins arrondis 7">
                  <a:extLst>
                    <a:ext uri="{FF2B5EF4-FFF2-40B4-BE49-F238E27FC236}">
                      <a16:creationId xmlns:a16="http://schemas.microsoft.com/office/drawing/2014/main" id="{5419CDAA-CB5D-76D6-E72F-72E3046E0737}"/>
                    </a:ext>
                  </a:extLst>
                </p:cNvPr>
                <p:cNvSpPr/>
                <p:nvPr/>
              </p:nvSpPr>
              <p:spPr>
                <a:xfrm>
                  <a:off x="5562600" y="1104900"/>
                  <a:ext cx="1158240" cy="533100"/>
                </a:xfrm>
                <a:prstGeom prst="roundRect">
                  <a:avLst/>
                </a:prstGeom>
                <a:noFill/>
                <a:ln w="12700">
                  <a:solidFill>
                    <a:srgbClr val="5433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BA96ED8C-CE06-A42C-D2BD-7ADEE97B2032}"/>
                    </a:ext>
                  </a:extLst>
                </p:cNvPr>
                <p:cNvSpPr txBox="1"/>
                <p:nvPr/>
              </p:nvSpPr>
              <p:spPr>
                <a:xfrm>
                  <a:off x="5926454" y="1217561"/>
                  <a:ext cx="4743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b="1" dirty="0"/>
                    <a:t>ML</a:t>
                  </a:r>
                </a:p>
              </p:txBody>
            </p:sp>
          </p:grp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EAE8F9FA-99F3-41A0-4E89-EB667427E812}"/>
                  </a:ext>
                </a:extLst>
              </p:cNvPr>
              <p:cNvSpPr txBox="1"/>
              <p:nvPr/>
            </p:nvSpPr>
            <p:spPr>
              <a:xfrm>
                <a:off x="468723" y="1637999"/>
                <a:ext cx="124187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100" dirty="0"/>
                  <a:t>Opérations fiables</a:t>
                </a:r>
              </a:p>
            </p:txBody>
          </p:sp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1C62E3B8-4DFA-59FB-5544-43F079EC5F2C}"/>
                  </a:ext>
                </a:extLst>
              </p:cNvPr>
              <p:cNvSpPr txBox="1"/>
              <p:nvPr/>
            </p:nvSpPr>
            <p:spPr>
              <a:xfrm>
                <a:off x="2237445" y="1637999"/>
                <a:ext cx="107246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100" dirty="0"/>
                  <a:t>Analyse métier</a:t>
                </a:r>
              </a:p>
            </p:txBody>
          </p: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A0762476-C473-2F96-4024-F4364D7DA814}"/>
                  </a:ext>
                </a:extLst>
              </p:cNvPr>
              <p:cNvSpPr txBox="1"/>
              <p:nvPr/>
            </p:nvSpPr>
            <p:spPr>
              <a:xfrm>
                <a:off x="3921465" y="1637999"/>
                <a:ext cx="107246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100" dirty="0"/>
                  <a:t>Evènements flexibles</a:t>
                </a: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6D2BB94C-0291-EE02-A53D-B8642F805065}"/>
                  </a:ext>
                </a:extLst>
              </p:cNvPr>
              <p:cNvSpPr txBox="1"/>
              <p:nvPr/>
            </p:nvSpPr>
            <p:spPr>
              <a:xfrm>
                <a:off x="5605485" y="1637999"/>
                <a:ext cx="107246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100" dirty="0"/>
                  <a:t>Scoring du risque</a:t>
                </a:r>
              </a:p>
            </p:txBody>
          </p:sp>
        </p:grp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DC6269D3-0827-5E64-BBCB-8AD124FA1667}"/>
                </a:ext>
              </a:extLst>
            </p:cNvPr>
            <p:cNvSpPr txBox="1"/>
            <p:nvPr/>
          </p:nvSpPr>
          <p:spPr>
            <a:xfrm>
              <a:off x="3356330" y="2040282"/>
              <a:ext cx="27105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100" dirty="0"/>
                <a:t>Sécurité / Gouvernance / Conformité</a:t>
              </a:r>
            </a:p>
          </p:txBody>
        </p:sp>
        <p:sp>
          <p:nvSpPr>
            <p:cNvPr id="46" name="Rectangle : coins arrondis 45">
              <a:extLst>
                <a:ext uri="{FF2B5EF4-FFF2-40B4-BE49-F238E27FC236}">
                  <a16:creationId xmlns:a16="http://schemas.microsoft.com/office/drawing/2014/main" id="{7F3355F6-99F4-1C7A-8D52-12751EE56581}"/>
                </a:ext>
              </a:extLst>
            </p:cNvPr>
            <p:cNvSpPr/>
            <p:nvPr/>
          </p:nvSpPr>
          <p:spPr>
            <a:xfrm>
              <a:off x="1374246" y="1090092"/>
              <a:ext cx="6893454" cy="986117"/>
            </a:xfrm>
            <a:prstGeom prst="roundRect">
              <a:avLst/>
            </a:prstGeom>
            <a:noFill/>
            <a:ln w="12700">
              <a:solidFill>
                <a:srgbClr val="543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id="{0D8C2225-C4EB-664D-9123-563C8E1F1204}"/>
              </a:ext>
            </a:extLst>
          </p:cNvPr>
          <p:cNvSpPr txBox="1"/>
          <p:nvPr/>
        </p:nvSpPr>
        <p:spPr>
          <a:xfrm>
            <a:off x="0" y="2200021"/>
            <a:ext cx="44935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/>
              <a:t>L’architecture apporte :</a:t>
            </a:r>
          </a:p>
          <a:p>
            <a:pPr>
              <a:buNone/>
            </a:pPr>
            <a:endParaRPr lang="fr-FR" sz="1200" b="1" dirty="0"/>
          </a:p>
          <a:p>
            <a:pPr marL="285750" indent="-285750">
              <a:buFontTx/>
              <a:buChar char="-"/>
            </a:pPr>
            <a:r>
              <a:rPr lang="fr-FR" sz="1200" dirty="0"/>
              <a:t>Fiabilité des paiements, remboursements et litiges.</a:t>
            </a:r>
          </a:p>
          <a:p>
            <a:pPr marL="285750" indent="-285750">
              <a:buFontTx/>
              <a:buChar char="-"/>
            </a:pPr>
            <a:r>
              <a:rPr lang="fr-FR" sz="1200" dirty="0"/>
              <a:t>Analyse structurée du revenu, du risque et des abonnements.</a:t>
            </a:r>
          </a:p>
          <a:p>
            <a:pPr marL="285750" indent="-285750">
              <a:buFontTx/>
              <a:buChar char="-"/>
            </a:pPr>
            <a:r>
              <a:rPr lang="fr-FR" sz="1200" dirty="0"/>
              <a:t>Stockage adapté aux logs, feedbacks et événements semi-structurés.</a:t>
            </a:r>
          </a:p>
          <a:p>
            <a:pPr marL="285750" indent="-285750">
              <a:buFontTx/>
              <a:buChar char="-"/>
            </a:pPr>
            <a:r>
              <a:rPr lang="fr-FR" sz="1200" dirty="0"/>
              <a:t>Pipelines orchestrés et contrôlables.</a:t>
            </a:r>
          </a:p>
          <a:p>
            <a:pPr marL="285750" indent="-285750">
              <a:buFontTx/>
              <a:buChar char="-"/>
            </a:pPr>
            <a:r>
              <a:rPr lang="fr-FR" sz="1200" dirty="0"/>
              <a:t>Scoring ML traçable et supervisé.</a:t>
            </a:r>
          </a:p>
          <a:p>
            <a:pPr marL="285750" indent="-285750">
              <a:buFontTx/>
              <a:buChar char="-"/>
            </a:pPr>
            <a:r>
              <a:rPr lang="fr-FR" sz="1200" dirty="0"/>
              <a:t>Gouvernance des accès, chiffrement, audit et conformité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816829D-CAB6-13AB-65D9-E3EE2A81285A}"/>
              </a:ext>
            </a:extLst>
          </p:cNvPr>
          <p:cNvSpPr txBox="1"/>
          <p:nvPr/>
        </p:nvSpPr>
        <p:spPr>
          <a:xfrm>
            <a:off x="4737184" y="2200021"/>
            <a:ext cx="4288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/>
              <a:t>Evolutions possibles</a:t>
            </a:r>
          </a:p>
          <a:p>
            <a:pPr>
              <a:buNone/>
            </a:pPr>
            <a:endParaRPr lang="fr-FR" sz="1200" b="1" dirty="0"/>
          </a:p>
          <a:p>
            <a:pPr marL="285750" indent="-285750">
              <a:buFontTx/>
              <a:buChar char="-"/>
            </a:pPr>
            <a:r>
              <a:rPr lang="fr-FR" sz="1200" dirty="0"/>
              <a:t>Ajouter un catalogue de données.</a:t>
            </a:r>
          </a:p>
          <a:p>
            <a:pPr marL="285750" indent="-285750">
              <a:buFontTx/>
              <a:buChar char="-"/>
            </a:pPr>
            <a:r>
              <a:rPr lang="fr-FR" sz="1200" dirty="0"/>
              <a:t>Monitorer le drift ML.</a:t>
            </a:r>
          </a:p>
          <a:p>
            <a:pPr marL="285750" indent="-285750">
              <a:buFontTx/>
              <a:buChar char="-"/>
            </a:pPr>
            <a:r>
              <a:rPr lang="fr-FR" sz="1200" dirty="0"/>
              <a:t>Définir et suivre les objectifs de service : fraîcheur des données, disponibilité, latence et reprise sur incident.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2BBDF406-8D94-E527-2493-39B3C555578D}"/>
              </a:ext>
            </a:extLst>
          </p:cNvPr>
          <p:cNvSpPr txBox="1"/>
          <p:nvPr/>
        </p:nvSpPr>
        <p:spPr>
          <a:xfrm>
            <a:off x="0" y="437960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Une architecture de paiement robuste repose sur une séparation claire des usages : opérations fiables, analyses exploitables, événements flexibles, scoring supervisé et gouvernance des données.</a:t>
            </a: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3468E99A-3CD7-C68B-99E7-389687E4BA79}"/>
              </a:ext>
            </a:extLst>
          </p:cNvPr>
          <p:cNvCxnSpPr/>
          <p:nvPr/>
        </p:nvCxnSpPr>
        <p:spPr>
          <a:xfrm>
            <a:off x="2880360" y="883920"/>
            <a:ext cx="0" cy="229686"/>
          </a:xfrm>
          <a:prstGeom prst="line">
            <a:avLst/>
          </a:prstGeom>
          <a:ln w="12700">
            <a:solidFill>
              <a:srgbClr val="FF7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590CF186-D9BE-0213-8A85-A0DA459DF034}"/>
              </a:ext>
            </a:extLst>
          </p:cNvPr>
          <p:cNvCxnSpPr/>
          <p:nvPr/>
        </p:nvCxnSpPr>
        <p:spPr>
          <a:xfrm>
            <a:off x="4549140" y="883920"/>
            <a:ext cx="0" cy="229686"/>
          </a:xfrm>
          <a:prstGeom prst="line">
            <a:avLst/>
          </a:prstGeom>
          <a:ln w="12700">
            <a:solidFill>
              <a:srgbClr val="FF7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E4D16D77-4043-A4BB-7147-305C52492240}"/>
              </a:ext>
            </a:extLst>
          </p:cNvPr>
          <p:cNvCxnSpPr/>
          <p:nvPr/>
        </p:nvCxnSpPr>
        <p:spPr>
          <a:xfrm>
            <a:off x="6240780" y="883920"/>
            <a:ext cx="0" cy="229686"/>
          </a:xfrm>
          <a:prstGeom prst="line">
            <a:avLst/>
          </a:prstGeom>
          <a:ln w="12700">
            <a:solidFill>
              <a:srgbClr val="FF7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851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5200" b="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sz="52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3686</TotalTime>
  <Words>1055</Words>
  <Application>Microsoft Office PowerPoint</Application>
  <PresentationFormat>Affichage à l'écran (16:9)</PresentationFormat>
  <Paragraphs>159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Inter SemiBold</vt:lpstr>
      <vt:lpstr>Arial</vt:lpstr>
      <vt:lpstr>Inter Medium</vt:lpstr>
      <vt:lpstr>Simple Light</vt:lpstr>
      <vt:lpstr>1_Simple Light</vt:lpstr>
      <vt:lpstr>Architecture de données Stripe</vt:lpstr>
      <vt:lpstr>Des données sensibles, volumineuses et hétérogènes</vt:lpstr>
      <vt:lpstr>Architecture globale des flux</vt:lpstr>
      <vt:lpstr>Modèle OLTP</vt:lpstr>
      <vt:lpstr>Modèle OLAP</vt:lpstr>
      <vt:lpstr>Modèle NoSQL</vt:lpstr>
      <vt:lpstr>Machine Learning, sécurité et conformité</vt:lpstr>
      <vt:lpstr>Conclusion : une architecture par usage</vt:lpstr>
      <vt:lpstr>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  <cp:lastModifiedBy>Antoine C</cp:lastModifiedBy>
  <cp:revision>110</cp:revision>
  <dcterms:modified xsi:type="dcterms:W3CDTF">2026-06-16T12:19:03Z</dcterms:modified>
</cp:coreProperties>
</file>